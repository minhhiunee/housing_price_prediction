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548640"/>
            <a:ext cx="2194560" cy="256032"/>
          </a:xfrm>
          <a:prstGeom prst="roundRect">
            <a:avLst>
              <a:gd name="adj" fmla="val 17857"/>
            </a:avLst>
          </a:prstGeom>
          <a:solidFill>
            <a:srgbClr val="2DA562"/>
          </a:solidFill>
          <a:ln w="12700">
            <a:solidFill>
              <a:srgbClr val="2DA5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486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DATA SCIENCE PROJECT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Price Prediction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Multiple Linear Regression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1828800" cy="256032"/>
          </a:xfrm>
          <a:prstGeom prst="roundRect">
            <a:avLst>
              <a:gd name="adj" fmla="val 17857"/>
            </a:avLst>
          </a:prstGeom>
          <a:solidFill>
            <a:srgbClr val="2B5A7A"/>
          </a:solidFill>
          <a:ln w="12700">
            <a:solidFill>
              <a:srgbClr val="2B5A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6060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Domain: Real Estate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4572000" cy="36576"/>
          </a:xfrm>
          <a:prstGeom prst="rect">
            <a:avLst/>
          </a:prstGeom>
          <a:solidFill>
            <a:srgbClr val="2B5A7A"/>
          </a:solidFill>
          <a:ln w="12700">
            <a:solidFill>
              <a:srgbClr val="2B5A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FA0B2"/>
                </a:solidFill>
              </a:rPr>
              <a:t>Nhóm thực hiện: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547872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• Nguyễn Minh Hiếu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• Vũ Nam Hải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0" y="2560320"/>
            <a:ext cx="2834640" cy="2194560"/>
          </a:xfrm>
          <a:prstGeom prst="rect">
            <a:avLst/>
          </a:prstGeom>
          <a:solidFill>
            <a:srgbClr val="192B40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8932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DA562"/>
                </a:solidFill>
              </a:rPr>
              <a:t>📊 Dataset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89320" y="306324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545 bản ghi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13 features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Target: price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Quan Dataset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8229600" cy="22860"/>
          </a:xfrm>
          <a:prstGeom prst="rect">
            <a:avLst/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228600"/>
            <a:ext cx="731520" cy="256032"/>
          </a:xfrm>
          <a:prstGeom prst="roundRect">
            <a:avLst>
              <a:gd name="adj" fmla="val 1785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0" y="2286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2/10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19202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188720"/>
            <a:ext cx="192024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7A4A"/>
                </a:solidFill>
              </a:rPr>
              <a:t>545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65760" y="1655064"/>
            <a:ext cx="192024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0B2"/>
                </a:solidFill>
              </a:rPr>
              <a:t>Tổng số records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9202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14600" y="1188720"/>
            <a:ext cx="192024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7A4A"/>
                </a:solidFill>
              </a:rPr>
              <a:t>13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514600" y="1655064"/>
            <a:ext cx="192024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0B2"/>
                </a:solidFill>
              </a:rPr>
              <a:t>Số features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051560"/>
            <a:ext cx="19202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1188720"/>
            <a:ext cx="192024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7A4A"/>
                </a:solidFill>
              </a:rPr>
              <a:t>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63440" y="1655064"/>
            <a:ext cx="192024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0B2"/>
                </a:solidFill>
              </a:rPr>
              <a:t>Missing values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12280" y="1051560"/>
            <a:ext cx="19202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12280" y="1188720"/>
            <a:ext cx="192024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3A5F"/>
                </a:solidFill>
              </a:rPr>
              <a:t>price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812280" y="1655064"/>
            <a:ext cx="192024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0B2"/>
                </a:solidFill>
              </a:rPr>
              <a:t>Target variable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2331720"/>
            <a:ext cx="393192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02920" y="24231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</a:rPr>
              <a:t>📐 Numerical Features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274320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50"/>
                </a:solidFill>
              </a:rPr>
              <a:t>area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A0B2"/>
                </a:solidFill>
              </a:rPr>
              <a:t>  Diện tích nhà (sq ft)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0" y="2331720"/>
            <a:ext cx="420624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09160" y="24231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</a:rPr>
              <a:t>🏷️ Categorical / Ordinal Features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09160" y="274320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</a:rPr>
              <a:t>bedrooms, bathrooms, stories, parking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</a:rPr>
              <a:t>mainroad, guestroom, basement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</a:rPr>
              <a:t>hotwaterheating, airconditioning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</a:rPr>
              <a:t>prefarea, furnishingstatus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65760" y="480060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FA0B2"/>
                </a:solidFill>
              </a:rPr>
              <a:t>⚙️  Train-Test Split: 80% / 20%  |  Feature Scaling: StandardScaler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228600"/>
            <a:ext cx="731520" cy="256032"/>
          </a:xfrm>
          <a:prstGeom prst="roundRect">
            <a:avLst>
              <a:gd name="adj" fmla="val 17857"/>
            </a:avLst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0" y="2286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3/10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Quy Trình Phân Tích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8620" y="1234440"/>
            <a:ext cx="1005840" cy="1463040"/>
          </a:xfrm>
          <a:prstGeom prst="rect">
            <a:avLst/>
          </a:prstGeom>
          <a:solidFill>
            <a:srgbClr val="1E3A5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7804" y="1325880"/>
            <a:ext cx="347472" cy="32004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7804" y="1325880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88620" y="172821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Data Loading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88620" y="2093976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AFCC"/>
                </a:solidFill>
              </a:rPr>
              <a:t>Nạp Housing.csv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403604" y="1965960"/>
            <a:ext cx="36576" cy="0"/>
          </a:xfrm>
          <a:prstGeom prst="line">
            <a:avLst/>
          </a:prstGeom>
          <a:noFill/>
          <a:ln w="19050">
            <a:solidFill>
              <a:srgbClr val="1B7A4A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440180" y="1234440"/>
            <a:ext cx="1005840" cy="1463040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769364" y="1325880"/>
            <a:ext cx="347472" cy="32004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69364" y="1325880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440180" y="172821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EDA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440180" y="2093976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AFCC"/>
                </a:solidFill>
              </a:rPr>
              <a:t>Phân tích phân phối &amp; quan hệ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455164" y="1965960"/>
            <a:ext cx="36576" cy="0"/>
          </a:xfrm>
          <a:prstGeom prst="line">
            <a:avLst/>
          </a:prstGeom>
          <a:noFill/>
          <a:ln w="19050">
            <a:solidFill>
              <a:srgbClr val="1B7A4A"/>
            </a:solidFill>
            <a:prstDash val="solid"/>
            <a:tailEnd type="arrow"/>
          </a:ln>
        </p:spPr>
      </p:sp>
      <p:sp>
        <p:nvSpPr>
          <p:cNvPr id="17" name="Shape 15"/>
          <p:cNvSpPr/>
          <p:nvPr/>
        </p:nvSpPr>
        <p:spPr>
          <a:xfrm>
            <a:off x="2491740" y="1234440"/>
            <a:ext cx="1005840" cy="1463040"/>
          </a:xfrm>
          <a:prstGeom prst="rect">
            <a:avLst/>
          </a:prstGeom>
          <a:solidFill>
            <a:srgbClr val="1E3A5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820924" y="1325880"/>
            <a:ext cx="347472" cy="32004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20924" y="1325880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491740" y="172821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Preprocessing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491740" y="2093976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AFCC"/>
                </a:solidFill>
              </a:rPr>
              <a:t>Encoding, scaling, split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506724" y="1965960"/>
            <a:ext cx="36576" cy="0"/>
          </a:xfrm>
          <a:prstGeom prst="line">
            <a:avLst/>
          </a:prstGeom>
          <a:noFill/>
          <a:ln w="19050">
            <a:solidFill>
              <a:srgbClr val="1B7A4A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3543300" y="1234440"/>
            <a:ext cx="1005840" cy="1463040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872484" y="1325880"/>
            <a:ext cx="347472" cy="32004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2484" y="1325880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04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543300" y="172821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VIF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543300" y="2093976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AFCC"/>
                </a:solidFill>
              </a:rPr>
              <a:t>Kiểm tra đa cộng tuyến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558284" y="1965960"/>
            <a:ext cx="36576" cy="0"/>
          </a:xfrm>
          <a:prstGeom prst="line">
            <a:avLst/>
          </a:prstGeom>
          <a:noFill/>
          <a:ln w="19050">
            <a:solidFill>
              <a:srgbClr val="1B7A4A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4594860" y="1234440"/>
            <a:ext cx="1005840" cy="1463040"/>
          </a:xfrm>
          <a:prstGeom prst="rect">
            <a:avLst/>
          </a:prstGeom>
          <a:solidFill>
            <a:srgbClr val="1E3A5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924044" y="1325880"/>
            <a:ext cx="347472" cy="32004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24044" y="1325880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05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594860" y="172821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RFE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594860" y="2093976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AFCC"/>
                </a:solidFill>
              </a:rPr>
              <a:t>Chọn 10 features tốt nhất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609844" y="1965960"/>
            <a:ext cx="36576" cy="0"/>
          </a:xfrm>
          <a:prstGeom prst="line">
            <a:avLst/>
          </a:prstGeom>
          <a:noFill/>
          <a:ln w="19050">
            <a:solidFill>
              <a:srgbClr val="1B7A4A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5646420" y="1234440"/>
            <a:ext cx="1005840" cy="1463040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975604" y="1325880"/>
            <a:ext cx="347472" cy="32004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75604" y="1325880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06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646420" y="172821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MLR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646420" y="2093976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AFCC"/>
                </a:solidFill>
              </a:rPr>
              <a:t>Huấn luyện mô hình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661404" y="1965960"/>
            <a:ext cx="36576" cy="0"/>
          </a:xfrm>
          <a:prstGeom prst="line">
            <a:avLst/>
          </a:prstGeom>
          <a:noFill/>
          <a:ln w="19050">
            <a:solidFill>
              <a:srgbClr val="1B7A4A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6697980" y="1234440"/>
            <a:ext cx="1005840" cy="1463040"/>
          </a:xfrm>
          <a:prstGeom prst="rect">
            <a:avLst/>
          </a:prstGeom>
          <a:solidFill>
            <a:srgbClr val="1E3A5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027164" y="1325880"/>
            <a:ext cx="347472" cy="32004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27164" y="1325880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07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697980" y="172821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Evaluation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697980" y="2093976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AFCC"/>
                </a:solidFill>
              </a:rPr>
              <a:t>R², RMSE, RSS, MSE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712964" y="1965960"/>
            <a:ext cx="36576" cy="0"/>
          </a:xfrm>
          <a:prstGeom prst="line">
            <a:avLst/>
          </a:prstGeom>
          <a:noFill/>
          <a:ln w="19050">
            <a:solidFill>
              <a:srgbClr val="1B7A4A"/>
            </a:solidFill>
            <a:prstDash val="solid"/>
            <a:tailEnd type="arrow"/>
          </a:ln>
        </p:spPr>
      </p:sp>
      <p:sp>
        <p:nvSpPr>
          <p:cNvPr id="47" name="Shape 45"/>
          <p:cNvSpPr/>
          <p:nvPr/>
        </p:nvSpPr>
        <p:spPr>
          <a:xfrm>
            <a:off x="7749540" y="1234440"/>
            <a:ext cx="1005840" cy="1463040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078724" y="1325880"/>
            <a:ext cx="347472" cy="32004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78724" y="1325880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08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749540" y="172821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Residuals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749540" y="2093976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AFCC"/>
                </a:solidFill>
              </a:rPr>
              <a:t>Phân tích sai số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FA0B2"/>
                </a:solidFill>
              </a:rPr>
              <a:t>Dữ liệu qua từng bước: kiểm tra → làm sạch → chuyển đổi → lựa chọn feature → mô hình hóa → đánh giá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20624" y="3154680"/>
            <a:ext cx="1993392" cy="1371600"/>
          </a:xfrm>
          <a:prstGeom prst="rect">
            <a:avLst/>
          </a:prstGeom>
          <a:solidFill>
            <a:srgbClr val="192B40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20624" y="3227832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420624" y="3666744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A562"/>
                </a:solidFill>
              </a:rPr>
              <a:t>Dữ liệu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93776" y="3941064"/>
            <a:ext cx="1847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AFCC"/>
                </a:solidFill>
              </a:rPr>
              <a:t>545 records · 13 columns · Không missing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2523744" y="3154680"/>
            <a:ext cx="1993392" cy="1371600"/>
          </a:xfrm>
          <a:prstGeom prst="rect">
            <a:avLst/>
          </a:prstGeom>
          <a:solidFill>
            <a:srgbClr val="192B40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2523744" y="3227832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2523744" y="3666744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A562"/>
                </a:solidFill>
              </a:rPr>
              <a:t>Mục tiêu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2596896" y="3941064"/>
            <a:ext cx="1847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AFCC"/>
                </a:solidFill>
              </a:rPr>
              <a:t>Dự đoán price dựa trên đặc trưng nhà ở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26864" y="3154680"/>
            <a:ext cx="1993392" cy="1371600"/>
          </a:xfrm>
          <a:prstGeom prst="rect">
            <a:avLst/>
          </a:prstGeom>
          <a:solidFill>
            <a:srgbClr val="192B40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4626864" y="3227832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4626864" y="3666744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A562"/>
                </a:solidFill>
              </a:rPr>
              <a:t>Thuật toán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4700016" y="3941064"/>
            <a:ext cx="1847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AFCC"/>
                </a:solidFill>
              </a:rPr>
              <a:t>Multiple Linear Regression (sklearn)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6729984" y="3154680"/>
            <a:ext cx="1993392" cy="1371600"/>
          </a:xfrm>
          <a:prstGeom prst="rect">
            <a:avLst/>
          </a:prstGeom>
          <a:solidFill>
            <a:srgbClr val="192B40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6729984" y="3227832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6729984" y="3666744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A562"/>
                </a:solidFill>
              </a:rPr>
              <a:t>Đánh giá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6803136" y="3941064"/>
            <a:ext cx="1847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AFCC"/>
                </a:solidFill>
              </a:rPr>
              <a:t>R², RMSE, RSS, MSE · Train &amp; Test set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Phân Phối Biến Mục Tiêu (Price)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FA0B2"/>
                </a:solidFill>
              </a:rPr>
              <a:t>Histogram với KDE curve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8229600" cy="22860"/>
          </a:xfrm>
          <a:prstGeom prst="rect">
            <a:avLst/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0" y="228600"/>
            <a:ext cx="731520" cy="256032"/>
          </a:xfrm>
          <a:prstGeom prst="roundRect">
            <a:avLst>
              <a:gd name="adj" fmla="val 1785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0" y="2286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4/10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05840"/>
            <a:ext cx="5760720" cy="3749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55080" y="1005840"/>
            <a:ext cx="246888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46520" y="1097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📌 Nhận xét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1554480"/>
            <a:ext cx="2331720" cy="685800"/>
          </a:xfrm>
          <a:prstGeom prst="rect">
            <a:avLst/>
          </a:prstGeom>
          <a:solidFill>
            <a:srgbClr val="F4F6F9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46520" y="16276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▸  Phân phối lệch phải (right-skewed) — đuôi dài về phía giá cao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400800" y="2331720"/>
            <a:ext cx="2331720" cy="685800"/>
          </a:xfrm>
          <a:prstGeom prst="rect">
            <a:avLst/>
          </a:prstGeom>
          <a:solidFill>
            <a:srgbClr val="F4F6F9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446520" y="240487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▸  Vùng giá phổ biến: 2M – 6M (tập trung nhất)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400800" y="3108960"/>
            <a:ext cx="2331720" cy="685800"/>
          </a:xfrm>
          <a:prstGeom prst="rect">
            <a:avLst/>
          </a:prstGeom>
          <a:solidFill>
            <a:srgbClr val="F4F6F9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446520" y="3182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▸  Một số outlier ở mức giá &gt;10M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400800" y="3886200"/>
            <a:ext cx="2331720" cy="685800"/>
          </a:xfrm>
          <a:prstGeom prst="rect">
            <a:avLst/>
          </a:prstGeom>
          <a:solidFill>
            <a:srgbClr val="F4F6F9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46520" y="39593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▸  Đây là đặc điểm thường gặp trong dữ liệu bất động sản thực tế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Mối Quan Hệ Feature &amp; Price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8229600" cy="22860"/>
          </a:xfrm>
          <a:prstGeom prst="rect">
            <a:avLst/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228600"/>
            <a:ext cx="731520" cy="256032"/>
          </a:xfrm>
          <a:prstGeom prst="roundRect">
            <a:avLst>
              <a:gd name="adj" fmla="val 1785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0" y="2286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5/10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148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0789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E4A"/>
                </a:solidFill>
              </a:rPr>
              <a:t>Scatter: Area vs Price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353312"/>
            <a:ext cx="3977640" cy="2057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663440" y="1005840"/>
            <a:ext cx="41148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800600" y="10789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E4A"/>
                </a:solidFill>
              </a:rPr>
              <a:t>Mean Price theo Categorical Features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09160" y="1353312"/>
            <a:ext cx="3977640" cy="20574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65760" y="3703320"/>
            <a:ext cx="201168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65760" y="3703320"/>
            <a:ext cx="2011680" cy="25603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65760" y="3703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area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457200" y="4005072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Tương quan dương rõ ràng với price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2560320" y="3703320"/>
            <a:ext cx="201168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560320" y="3703320"/>
            <a:ext cx="2011680" cy="256032"/>
          </a:xfrm>
          <a:prstGeom prst="rect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560320" y="3703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airconditioning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2651760" y="4005072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Nhà có AC: giá cao hơn ~45%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4754880" y="3703320"/>
            <a:ext cx="201168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754880" y="3703320"/>
            <a:ext cx="2011680" cy="25603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754880" y="3703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prefarea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4846320" y="4005072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Khu vực ưa thích: +30% giá TB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6949440" y="3703320"/>
            <a:ext cx="201168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949440" y="3703320"/>
            <a:ext cx="2011680" cy="256032"/>
          </a:xfrm>
          <a:prstGeom prst="rect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949440" y="3703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bathrooms / stories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7040880" y="4005072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Tăng dần theo số lượng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Đa Cộng Tuyến (VIF)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FA0B2"/>
                </a:solidFill>
              </a:rPr>
              <a:t>Variance Inflation Factor — Tất cả VIF &lt; 2 → Không có đa cộng tuyến đáng kể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8229600" cy="22860"/>
          </a:xfrm>
          <a:prstGeom prst="rect">
            <a:avLst/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0" y="228600"/>
            <a:ext cx="731520" cy="256032"/>
          </a:xfrm>
          <a:prstGeom prst="roundRect">
            <a:avLst>
              <a:gd name="adj" fmla="val 1785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0" y="2286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6/10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51560"/>
            <a:ext cx="3840480" cy="1005840"/>
          </a:xfrm>
          <a:prstGeom prst="rect">
            <a:avLst/>
          </a:prstGeom>
          <a:solidFill>
            <a:srgbClr val="1E3A5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1155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VIF là gì?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38988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0E8"/>
                </a:solidFill>
              </a:rPr>
              <a:t>Variance Inflation Factor đo mức độ một feature bị giải thích bởi các feature khác. VIF &lt; 5 là chấp nhận được; VIF &lt; 2 là rất tốt.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051560"/>
          <a:ext cx="4206240" cy="384048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VIF Score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Đánh giá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furnishingstatus_unfurnished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1.664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✓ Tốt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furnishingstatus_semi-furnished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1.586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✓ Tốt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stories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1.458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✓ Tốt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1.413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✓ Tốt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bedrooms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1.348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✓ Tốt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basement_yes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1.323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✓ Tốt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bathrooms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1.280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✓ Tốt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airconditioning_yes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1.239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✓ Tốt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parking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1.219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✓ Tốt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guestroom_yes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1.216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✓ Tốt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mainroad_yes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1.182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✓ Tốt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prefarea_yes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1.147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✓ Tốt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hotwaterheating_yes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1.053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✓ Tốt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365760" y="2194560"/>
            <a:ext cx="384048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0292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</a:rPr>
              <a:t>Kết luận: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2633472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</a:rPr>
              <a:t>✓  Tất cả VIF đều &lt;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</a:rPr>
              <a:t>✓  Không phát hiện đa cộng tuyến nghiêm trọng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</a:rPr>
              <a:t>✓  Dữ liệu đủ điều kiện cho Multiple Linear Regression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</a:rPr>
              <a:t>→  Có thể tiếp tục bước Feature Selection (RFE)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228600"/>
            <a:ext cx="731520" cy="256032"/>
          </a:xfrm>
          <a:prstGeom prst="roundRect">
            <a:avLst>
              <a:gd name="adj" fmla="val 17857"/>
            </a:avLst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0" y="2286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7/10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Feature Selection với RFE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AAFCC"/>
                </a:solidFill>
              </a:rPr>
              <a:t>Recursive Feature Elimination — Loại dần feature kém quan trọng, giữ lại 10 feature tốt nhất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1155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A562"/>
                </a:solidFill>
              </a:rPr>
              <a:t>✅  10 Features được chọn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2331720" cy="502920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30352" y="1627632"/>
            <a:ext cx="274320" cy="27432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627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59536" y="1609344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area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926080" y="1508760"/>
            <a:ext cx="2331720" cy="502920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999232" y="1627632"/>
            <a:ext cx="274320" cy="27432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9232" y="1627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328416" y="1609344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bathrooms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130552"/>
            <a:ext cx="2331720" cy="502920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0352" y="2249424"/>
            <a:ext cx="274320" cy="27432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9536" y="2231136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stories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926080" y="2130552"/>
            <a:ext cx="2331720" cy="502920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999232" y="2249424"/>
            <a:ext cx="274320" cy="27432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99232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28416" y="2231136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parking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2752344"/>
            <a:ext cx="2331720" cy="502920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30352" y="2871216"/>
            <a:ext cx="274320" cy="27432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9536" y="2852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mainroad_yes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926080" y="2752344"/>
            <a:ext cx="2331720" cy="502920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999232" y="2871216"/>
            <a:ext cx="274320" cy="27432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28416" y="2852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basement_yes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3374136"/>
            <a:ext cx="2331720" cy="502920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30352" y="3493008"/>
            <a:ext cx="274320" cy="27432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59536" y="34747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hotwaterheating_yes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926080" y="3374136"/>
            <a:ext cx="2331720" cy="502920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999232" y="3493008"/>
            <a:ext cx="274320" cy="27432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99232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328416" y="34747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airconditioning_yes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3995928"/>
            <a:ext cx="2331720" cy="502920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30352" y="4114800"/>
            <a:ext cx="274320" cy="27432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0352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59536" y="409651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prefarea_yes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2926080" y="3995928"/>
            <a:ext cx="2331720" cy="502920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999232" y="4114800"/>
            <a:ext cx="274320" cy="274320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99232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328416" y="409651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furnishingstatus_unfurnished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303520" y="1115568"/>
            <a:ext cx="3474720" cy="3840480"/>
          </a:xfrm>
          <a:prstGeom prst="rect">
            <a:avLst/>
          </a:prstGeom>
          <a:solidFill>
            <a:srgbClr val="192B40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440680" y="12070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080"/>
                </a:solidFill>
              </a:rPr>
              <a:t>❌  Features bị loại (Ranking &gt; 1)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440680" y="1627632"/>
            <a:ext cx="3200400" cy="548640"/>
          </a:xfrm>
          <a:prstGeom prst="rect">
            <a:avLst/>
          </a:prstGeom>
          <a:solidFill>
            <a:srgbClr val="1A2E4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5577840" y="17099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guestroom_yes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772400" y="170992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8080"/>
                </a:solidFill>
              </a:rPr>
              <a:t>Rank 2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40680" y="2313432"/>
            <a:ext cx="3200400" cy="548640"/>
          </a:xfrm>
          <a:prstGeom prst="rect">
            <a:avLst/>
          </a:prstGeom>
          <a:solidFill>
            <a:srgbClr val="1A2E4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577840" y="23957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bedrooms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772400" y="239572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8080"/>
                </a:solidFill>
              </a:rPr>
              <a:t>Rank 3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440680" y="2999232"/>
            <a:ext cx="3200400" cy="548640"/>
          </a:xfrm>
          <a:prstGeom prst="rect">
            <a:avLst/>
          </a:prstGeom>
          <a:solidFill>
            <a:srgbClr val="1A2E4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5577840" y="30815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furnishingstatus_semi-furnished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7772400" y="308152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8080"/>
                </a:solidFill>
              </a:rPr>
              <a:t>Rank 4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440680" y="32004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A562"/>
                </a:solidFill>
              </a:rPr>
              <a:t>→  Mô hình được train chỉ trên 10 features được chọn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FA0B2"/>
                </a:solidFill>
              </a:rPr>
              <a:t>Sử dụng RFE với LinearRegression(n_features_to_select=10) trên tập train sau khi đã scale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— Multiple Linear Regression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8229600" cy="22860"/>
          </a:xfrm>
          <a:prstGeom prst="rect">
            <a:avLst/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228600"/>
            <a:ext cx="731520" cy="256032"/>
          </a:xfrm>
          <a:prstGeom prst="roundRect">
            <a:avLst>
              <a:gd name="adj" fmla="val 1785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0" y="2286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8/10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024128"/>
            <a:ext cx="8412480" cy="777240"/>
          </a:xfrm>
          <a:prstGeom prst="rect">
            <a:avLst/>
          </a:prstGeom>
          <a:solidFill>
            <a:srgbClr val="1A2E4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 =  β₀  +  β₁·area  +  β₂·bathrooms  +  β₃·stories  +  ···  +  β₁₀·furnishingstatus_unfurnished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920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</a:rPr>
              <a:t>Hệ số hồi quy (Coefficients)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40280"/>
          <a:ext cx="4663440" cy="2743200"/>
        </p:xfrm>
        <a:graphic>
          <a:graphicData uri="http://schemas.openxmlformats.org/drawingml/2006/table">
            <a:tbl>
              <a:tblPr/>
              <a:tblGrid>
                <a:gridCol w="2926080"/>
                <a:gridCol w="173736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Coefficient (VND)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C3E50"/>
                          </a:solidFill>
                        </a:rPr>
                        <a:t>Intercept (β₀)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B7A4A"/>
                          </a:solidFill>
                        </a:rPr>
                        <a:t>4,716,709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+476,497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bathrooms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+479,722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stories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+450,347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airconditioning_yes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+387,082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prefarea_yes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+283,466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parking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+234,234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basement_yes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+211,063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hotwaterheating_yes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+200,261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mainroad_yes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7A4A"/>
                          </a:solidFill>
                        </a:rPr>
                        <a:t>+175,976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3E50"/>
                          </a:solidFill>
                        </a:rPr>
                        <a:t>furnishingstatus_unfurnished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</a:rPr>
                        <a:t>-181,683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212080" y="1920240"/>
            <a:ext cx="3566160" cy="30632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349240" y="19933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</a:rPr>
              <a:t>💡 Diễn giải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349240" y="233172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Mỗi hệ số β thể hiện mức thay đổi kỳ vọng của price (VND) khi feature tương ứng tăng 1 đơn vị (sau chuẩn hóa), giữ các feature khác không đổi.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349240" y="285292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• Hệ số dương (+) → Feature tăng làm price tăng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349240" y="3374136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• Hệ số âm (−) → Feature tăng làm price giảm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349240" y="389534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• area, bathrooms, stories và airconditioning có tác động lớn nhất.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349240" y="441655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</a:rPr>
              <a:t>• furnishingstatus_unfurnished có hệ số âm — nhà chưa trang trí nội thất có giá thấp hơn.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228600"/>
            <a:ext cx="731520" cy="256032"/>
          </a:xfrm>
          <a:prstGeom prst="roundRect">
            <a:avLst>
              <a:gd name="adj" fmla="val 17857"/>
            </a:avLst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0" y="2286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9/10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Đánh Giá Mô Hình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896112"/>
            <a:ext cx="2011680" cy="1417320"/>
          </a:xfrm>
          <a:prstGeom prst="rect">
            <a:avLst/>
          </a:prstGeom>
          <a:solidFill>
            <a:srgbClr val="192B40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96112"/>
            <a:ext cx="2011680" cy="256032"/>
          </a:xfrm>
          <a:prstGeom prst="rect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961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Train R²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120700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A562"/>
                </a:solidFill>
              </a:rPr>
              <a:t>0.6635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004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FA0B2"/>
                </a:solidFill>
              </a:rPr>
              <a:t>Variance explained (train)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14600" y="896112"/>
            <a:ext cx="2011680" cy="1417320"/>
          </a:xfrm>
          <a:prstGeom prst="rect">
            <a:avLst/>
          </a:prstGeom>
          <a:solidFill>
            <a:srgbClr val="192B40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14600" y="896112"/>
            <a:ext cx="2011680" cy="256032"/>
          </a:xfrm>
          <a:prstGeom prst="rect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8961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Test R²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14600" y="120700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A562"/>
                </a:solidFill>
              </a:rPr>
              <a:t>0.7212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51460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FA0B2"/>
                </a:solidFill>
              </a:rPr>
              <a:t>Variance explained (test)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09160" y="896112"/>
            <a:ext cx="2011680" cy="1417320"/>
          </a:xfrm>
          <a:prstGeom prst="rect">
            <a:avLst/>
          </a:prstGeom>
          <a:solidFill>
            <a:srgbClr val="192B40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896112"/>
            <a:ext cx="2011680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8961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Train RMSE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09160" y="120700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8C4D8"/>
                </a:solidFill>
              </a:rPr>
              <a:t>1,071,210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7091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FA0B2"/>
                </a:solidFill>
              </a:rPr>
              <a:t>Error in VND (train)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903720" y="896112"/>
            <a:ext cx="2011680" cy="1417320"/>
          </a:xfrm>
          <a:prstGeom prst="rect">
            <a:avLst/>
          </a:prstGeom>
          <a:solidFill>
            <a:srgbClr val="192B40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03720" y="896112"/>
            <a:ext cx="2011680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8961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Test RMSE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03720" y="120700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8C4D8"/>
                </a:solidFill>
              </a:rPr>
              <a:t>982,410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90372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FA0B2"/>
                </a:solidFill>
              </a:rPr>
              <a:t>Error in VND (test)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2468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Chi tiết các metrics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8229600" cy="192024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Training Set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Test Set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R²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0.6635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7A4A"/>
                          </a:solidFill>
                        </a:rPr>
                        <a:t>0.7212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RSS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4.89 × 10¹⁴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1.03 × 10¹⁴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MSE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1.147 × 10¹²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</a:rPr>
                        <a:t>9.651 × 10¹¹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RMSE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1,071,210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DA562"/>
                          </a:solidFill>
                        </a:rPr>
                        <a:t>982,410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5A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7" name="Text 24"/>
          <p:cNvSpPr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A562"/>
                </a:solidFill>
              </a:rPr>
              <a:t>✅  Test R² &gt; Train R²  →  Không có dấu hiệu overfitting rõ ràng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Analysis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FA0B2"/>
                </a:solidFill>
              </a:rPr>
              <a:t>Phân tích sai số dự đoán của mô hình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8229600" cy="22860"/>
          </a:xfrm>
          <a:prstGeom prst="rect">
            <a:avLst/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0" y="228600"/>
            <a:ext cx="731520" cy="256032"/>
          </a:xfrm>
          <a:prstGeom prst="roundRect">
            <a:avLst>
              <a:gd name="adj" fmla="val 1785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0" y="2286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10/10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05840"/>
            <a:ext cx="8412480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4343400"/>
            <a:ext cx="27889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" y="4343400"/>
            <a:ext cx="64008" cy="640080"/>
          </a:xfrm>
          <a:prstGeom prst="rect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43891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E4A"/>
                </a:solidFill>
              </a:rPr>
              <a:t>Error Distribution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48640" y="4626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Phân phối sai số tập trung quanh 0 — đúng giả định Linear Regression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291840" y="4343400"/>
            <a:ext cx="27889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4343400"/>
            <a:ext cx="64008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0" y="43891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E4A"/>
                </a:solidFill>
              </a:rPr>
              <a:t>Actual vs Predicted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474720" y="4626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Điểm dự đoán bám theo đường thực tế, đặc biệt ở vùng giá trung bình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217920" y="4343400"/>
            <a:ext cx="27889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343400"/>
            <a:ext cx="64008" cy="640080"/>
          </a:xfrm>
          <a:prstGeom prst="rect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43891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E4A"/>
                </a:solidFill>
              </a:rPr>
              <a:t>Outliers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400800" y="4626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Sai số lớn tập trung ở nhà giá cao — mô hình tuyến tính còn hạn chế ở đuôi phân phối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Kết Luận &amp; Hướng Phát Triển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96112"/>
            <a:ext cx="4297680" cy="3977640"/>
          </a:xfrm>
          <a:prstGeom prst="rect">
            <a:avLst/>
          </a:prstGeom>
          <a:solidFill>
            <a:srgbClr val="192B40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875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A562"/>
                </a:solidFill>
              </a:rPr>
              <a:t>📊 Kết quả chính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4023360" cy="566928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481328"/>
            <a:ext cx="256032" cy="256032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14400" y="1463040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Test R² = 0.7212 → Mô hình giải thích được ~72% variance giá nhà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4023360" cy="566928"/>
          </a:xfrm>
          <a:prstGeom prst="rect">
            <a:avLst/>
          </a:prstGeom>
          <a:solidFill>
            <a:srgbClr val="152B45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6928" y="2139696"/>
            <a:ext cx="256032" cy="256032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139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914400" y="2121408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RMSE = 982,410 VND — sai số ở mức baseline chấp nhận được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706624"/>
            <a:ext cx="4023360" cy="566928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66928" y="2798064"/>
            <a:ext cx="256032" cy="256032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98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779776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area, bathrooms, airconditioning là 3 feature tác động mạnh nhất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3364992"/>
            <a:ext cx="4023360" cy="566928"/>
          </a:xfrm>
          <a:prstGeom prst="rect">
            <a:avLst/>
          </a:prstGeom>
          <a:solidFill>
            <a:srgbClr val="152B45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6928" y="3456432"/>
            <a:ext cx="256032" cy="256032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56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14400" y="3438144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RFE loại 3 feature ít tín hiệu, cải thiện chất lượng mô hình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4023360"/>
            <a:ext cx="4023360" cy="566928"/>
          </a:xfrm>
          <a:prstGeom prst="rect">
            <a:avLst/>
          </a:prstGeom>
          <a:solidFill>
            <a:srgbClr val="1C3D6A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66928" y="4114800"/>
            <a:ext cx="256032" cy="256032"/>
          </a:xfrm>
          <a:prstGeom prst="ellipse">
            <a:avLst/>
          </a:prstGeom>
          <a:solidFill>
            <a:srgbClr val="1B7A4A"/>
          </a:solidFill>
          <a:ln w="12700">
            <a:solidFill>
              <a:srgbClr val="1B7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114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914400" y="4096512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Test R² &gt; Train R² → Không có overfitting rõ ràng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937760" y="896112"/>
            <a:ext cx="3840480" cy="1828800"/>
          </a:xfrm>
          <a:prstGeom prst="rect">
            <a:avLst/>
          </a:prstGeom>
          <a:solidFill>
            <a:srgbClr val="192B40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120640" y="9875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080"/>
                </a:solidFill>
              </a:rPr>
              <a:t>⚠️ Hạn chế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20640" y="1325880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• Dataset nhỏ — 545 records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• Giả định quan hệ tuyến tính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• Chưa bắt được quan hệ phi tuyến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937760" y="2852928"/>
            <a:ext cx="3840480" cy="2020824"/>
          </a:xfrm>
          <a:prstGeom prst="rect">
            <a:avLst/>
          </a:prstGeom>
          <a:solidFill>
            <a:srgbClr val="192B40"/>
          </a:solidFill>
          <a:ln w="6350">
            <a:solidFill>
              <a:srgbClr val="D5DE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120640" y="29443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A562"/>
                </a:solidFill>
              </a:rPr>
              <a:t>🚀 Future Work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20640" y="3273552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4D8"/>
                </a:solidFill>
              </a:rPr>
              <a:t>→ Cross-validation cho đánh giá bền vững hơn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C4D8"/>
                </a:solidFill>
              </a:rPr>
              <a:t>→ Feature engineering nâng cao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C4D8"/>
                </a:solidFill>
              </a:rPr>
              <a:t>→ So sánh: Random Forest, Gradient Boosting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C4D8"/>
                </a:solidFill>
              </a:rPr>
              <a:t>→ Hyperparameter tuning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Housing Price Prediction Using Multiple Linear Regression</dc:title>
  <dc:subject>PptxGenJS Presentation</dc:subject>
  <dc:creator>Nguyễn Minh Hiếu, Vũ Nam Hải</dc:creator>
  <cp:lastModifiedBy>Nguyễn Minh Hiếu, Vũ Nam Hải</cp:lastModifiedBy>
  <cp:revision>1</cp:revision>
  <dcterms:created xsi:type="dcterms:W3CDTF">2026-06-06T09:51:51Z</dcterms:created>
  <dcterms:modified xsi:type="dcterms:W3CDTF">2026-06-06T09:51:51Z</dcterms:modified>
</cp:coreProperties>
</file>