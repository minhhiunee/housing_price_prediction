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7" d="100"/>
          <a:sy n="127" d="100"/>
        </p:scale>
        <p:origin x="116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7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2194560" cy="256032"/>
          </a:xfrm>
          <a:prstGeom prst="roundRect">
            <a:avLst>
              <a:gd name="adj" fmla="val 17857"/>
            </a:avLst>
          </a:prstGeom>
          <a:solidFill>
            <a:srgbClr val="2DA562"/>
          </a:solidFill>
          <a:ln w="12700">
            <a:solidFill>
              <a:srgbClr val="2DA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</a:t>
            </a:r>
            <a:r>
              <a:rPr lang="en-US" sz="900" b="1">
                <a:solidFill>
                  <a:srgbClr val="FFFFFF"/>
                </a:solidFill>
              </a:rPr>
              <a:t>SCIENCE 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 Prediction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Multiple Linear Regression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2B5A7A"/>
          </a:solidFill>
          <a:ln w="12700">
            <a:solidFill>
              <a:srgbClr val="2B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Lĩnh vực: Bất động sản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572000" cy="36576"/>
          </a:xfrm>
          <a:prstGeom prst="rect">
            <a:avLst/>
          </a:prstGeom>
          <a:solidFill>
            <a:srgbClr val="2B5A7A"/>
          </a:solidFill>
          <a:ln w="12700">
            <a:solidFill>
              <a:srgbClr val="2B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0B2"/>
                </a:solidFill>
              </a:rPr>
              <a:t>Nhóm thực hiện: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• Nguyễn Minh Hiếu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• Vũ Nam Hải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0"/>
            <a:ext cx="2834640" cy="219456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93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A562"/>
                </a:solidFill>
              </a:rPr>
              <a:t>📊 Dataset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3063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545 bản ghi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13 features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Target: price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7A4A"/>
                </a:solidFill>
              </a:rPr>
              <a:t>545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2"/>
                </a:solidFill>
              </a:rPr>
              <a:t>Tổng số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18872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7A4A"/>
                </a:solidFill>
              </a:rPr>
              <a:t>13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165506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2"/>
                </a:solidFill>
              </a:rPr>
              <a:t>Số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7A4A"/>
                </a:solidFill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165506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2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2280" y="118872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</a:rPr>
              <a:t>price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165506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2"/>
                </a:solidFill>
              </a:rPr>
              <a:t>Target variable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1"/>
            <a:ext cx="3931920" cy="19156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📐 Numerical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36576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area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0B2"/>
                </a:solidFill>
              </a:rPr>
              <a:t>  Diện tích nhà (sq ft)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331720"/>
            <a:ext cx="4206240" cy="1915669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423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🏷️ Categorical / Ordinal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1005" y="2730138"/>
            <a:ext cx="3931920" cy="1264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bedrooms, bathrooms, stories</a:t>
            </a:r>
            <a:r>
              <a:rPr lang="en-US" sz="1150">
                <a:solidFill>
                  <a:srgbClr val="2C3E50"/>
                </a:solidFill>
              </a:rPr>
              <a:t>, parking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2C3E50"/>
                </a:solidFill>
              </a:rPr>
              <a:t>mainroad, guestroom, basement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2C3E50"/>
                </a:solidFill>
              </a:rPr>
              <a:t>hotwaterheating, airconditioning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2C3E50"/>
                </a:solidFill>
              </a:rPr>
              <a:t>prefarea, furnishingstatus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2291" y="4784599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0B2"/>
                </a:solidFill>
              </a:rPr>
              <a:t>⚙️  </a:t>
            </a:r>
            <a:r>
              <a:rPr lang="en-US" sz="1000" b="1" i="1" dirty="0">
                <a:solidFill>
                  <a:srgbClr val="8FA0B2"/>
                </a:solidFill>
              </a:rPr>
              <a:t>Train-Test Split: 80% / 20%  </a:t>
            </a:r>
            <a:r>
              <a:rPr lang="en-US" sz="1000" i="1" dirty="0">
                <a:solidFill>
                  <a:srgbClr val="8FA0B2"/>
                </a:solidFill>
              </a:rPr>
              <a:t>|  Feature Scaling: StandardScaler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Quy Trình Phân Tích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8620" y="1234440"/>
            <a:ext cx="1005840" cy="1463040"/>
          </a:xfrm>
          <a:prstGeom prst="rect">
            <a:avLst/>
          </a:prstGeom>
          <a:solidFill>
            <a:srgbClr val="1E3A5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780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780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862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Loading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862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Nạp Housing.csv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03604" y="1965960"/>
            <a:ext cx="36576" cy="0"/>
          </a:xfrm>
          <a:prstGeom prst="line">
            <a:avLst/>
          </a:prstGeom>
          <a:noFill/>
          <a:ln w="19050">
            <a:solidFill>
              <a:srgbClr val="1B7A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40180" y="1234440"/>
            <a:ext cx="1005840" cy="146304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6936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6936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4018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EDA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4018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Phân tích phân phối &amp; quan hệ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55164" y="1965960"/>
            <a:ext cx="36576" cy="0"/>
          </a:xfrm>
          <a:prstGeom prst="line">
            <a:avLst/>
          </a:prstGeom>
          <a:noFill/>
          <a:ln w="19050">
            <a:solidFill>
              <a:srgbClr val="1B7A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91740" y="1234440"/>
            <a:ext cx="1005840" cy="1463040"/>
          </a:xfrm>
          <a:prstGeom prst="rect">
            <a:avLst/>
          </a:prstGeom>
          <a:solidFill>
            <a:srgbClr val="1E3A5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2092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2092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9174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Preprocessing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9174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Encoding, scaling, split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06724" y="1965960"/>
            <a:ext cx="36576" cy="0"/>
          </a:xfrm>
          <a:prstGeom prst="line">
            <a:avLst/>
          </a:prstGeom>
          <a:noFill/>
          <a:ln w="19050">
            <a:solidFill>
              <a:srgbClr val="1B7A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43300" y="1234440"/>
            <a:ext cx="1005840" cy="146304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7248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7248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4330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4330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Kiểm tra đa cộng tuyến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58284" y="1965960"/>
            <a:ext cx="36576" cy="0"/>
          </a:xfrm>
          <a:prstGeom prst="line">
            <a:avLst/>
          </a:prstGeom>
          <a:noFill/>
          <a:ln w="19050">
            <a:solidFill>
              <a:srgbClr val="1B7A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94860" y="1234440"/>
            <a:ext cx="1005840" cy="1463040"/>
          </a:xfrm>
          <a:prstGeom prst="rect">
            <a:avLst/>
          </a:prstGeom>
          <a:solidFill>
            <a:srgbClr val="1E3A5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2404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2404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9486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RFE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9486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Chọn 10 features tốt nhất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09844" y="1965960"/>
            <a:ext cx="36576" cy="0"/>
          </a:xfrm>
          <a:prstGeom prst="line">
            <a:avLst/>
          </a:prstGeom>
          <a:noFill/>
          <a:ln w="19050">
            <a:solidFill>
              <a:srgbClr val="1B7A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646420" y="1234440"/>
            <a:ext cx="1005840" cy="146304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7560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7560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4642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MLR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4642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Huấn luyện mô hình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61404" y="1965960"/>
            <a:ext cx="36576" cy="0"/>
          </a:xfrm>
          <a:prstGeom prst="line">
            <a:avLst/>
          </a:prstGeom>
          <a:noFill/>
          <a:ln w="19050">
            <a:solidFill>
              <a:srgbClr val="1B7A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97980" y="1234440"/>
            <a:ext cx="1005840" cy="1463040"/>
          </a:xfrm>
          <a:prstGeom prst="rect">
            <a:avLst/>
          </a:prstGeom>
          <a:solidFill>
            <a:srgbClr val="1E3A5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2716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2716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9798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9798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R², RMSE, RSS, MSE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12964" y="1965960"/>
            <a:ext cx="36576" cy="0"/>
          </a:xfrm>
          <a:prstGeom prst="line">
            <a:avLst/>
          </a:prstGeom>
          <a:noFill/>
          <a:ln w="19050">
            <a:solidFill>
              <a:srgbClr val="1B7A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749540" y="1234440"/>
            <a:ext cx="1005840" cy="146304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078724" y="1325880"/>
            <a:ext cx="347472" cy="32004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78724" y="1325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749540" y="1728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Residuals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749540" y="2093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FCC"/>
                </a:solidFill>
              </a:rPr>
              <a:t>Phân tích sai số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0B2"/>
                </a:solidFill>
              </a:rPr>
              <a:t>Dữ liệu qua từng bước: kiểm tra → làm sạch → chuyển đổi → lựa chọn feature → mô hình hóa → đánh giá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0624" y="3154680"/>
            <a:ext cx="1993392" cy="137160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20624" y="32278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20624" y="36667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562"/>
                </a:solidFill>
              </a:rPr>
              <a:t>Dữ liệu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93776" y="394106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FCC"/>
                </a:solidFill>
              </a:rPr>
              <a:t>545 records · 13 columns · Không missing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23744" y="3154680"/>
            <a:ext cx="1993392" cy="137160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523744" y="32278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2523744" y="36667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562"/>
                </a:solidFill>
              </a:rPr>
              <a:t>Mục tiêu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596896" y="394106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FCC"/>
                </a:solidFill>
              </a:rPr>
              <a:t>Dự đoán price dựa trên đặc trưng nhà ở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26864" y="3154680"/>
            <a:ext cx="1993392" cy="137160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626864" y="32278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4626864" y="36667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562"/>
                </a:solidFill>
              </a:rPr>
              <a:t>Thuật toán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700016" y="394106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FCC"/>
                </a:solidFill>
              </a:rPr>
              <a:t>Multiple Linear Regression (sklearn)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29984" y="3154680"/>
            <a:ext cx="1993392" cy="137160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729984" y="32278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6729984" y="36667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562"/>
                </a:solidFill>
              </a:rPr>
              <a:t>Đánh giá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803136" y="394106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FCC"/>
                </a:solidFill>
              </a:rPr>
              <a:t>R², RMSE, RSS, MSE · Train &amp; Test set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Phân Phối Biến Mục Tiêu (Price)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FA0B2"/>
                </a:solidFill>
              </a:rPr>
              <a:t>Histogram với KDE curve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4/10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05840"/>
            <a:ext cx="576072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005840"/>
            <a:ext cx="24688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465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📌 Nhận xét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554480"/>
            <a:ext cx="233172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46520" y="1627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▸  Phân phối lệch phải (right-skewed) — đuôi dài về phía giá cao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0" y="2331720"/>
            <a:ext cx="233172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2404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▸  Vùng giá phổ biến: 2M – 6M (tập trung nhất)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0" y="3108960"/>
            <a:ext cx="233172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6520" y="3182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▸  Một số outlier ở mức giá &gt;10M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0" y="3886200"/>
            <a:ext cx="233172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46520" y="39593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▸  Đây là đặc điểm thường gặp trong dữ liệu bất động sản thực tế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Mối Quan Hệ Feature &amp; Price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5/10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Scatter: Area vs Price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353312"/>
            <a:ext cx="3977640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00584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0060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Mean Price theo Categorical Features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353312"/>
            <a:ext cx="3977640" cy="2057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" y="3703320"/>
            <a:ext cx="2011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5760" y="3703320"/>
            <a:ext cx="20116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6576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area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40050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</a:rPr>
              <a:t>Tương quan dương rõ ràng với price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560320" y="3703320"/>
            <a:ext cx="2011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560320" y="3703320"/>
            <a:ext cx="2011680" cy="2560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56032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airconditioning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651760" y="40050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</a:rPr>
              <a:t>Nhà có AC: giá cao hơn ~45%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54880" y="3703320"/>
            <a:ext cx="2011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754880" y="3703320"/>
            <a:ext cx="20116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5488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prefarea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846320" y="40050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</a:rPr>
              <a:t>Khu vực ưa thích: +30% giá TB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949440" y="3703320"/>
            <a:ext cx="2011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949440" y="3703320"/>
            <a:ext cx="2011680" cy="2560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9494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bathrooms / stories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040880" y="40050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</a:rPr>
              <a:t>Tăng dần theo số lượng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Đa Cộng Tuyến (VIF)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FA0B2"/>
                </a:solidFill>
              </a:rPr>
              <a:t>Variance Inflation Factor — Tất cả VIF &lt; 2 → Không có đa cộng tuyến đáng kể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6/10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3840480" cy="1005840"/>
          </a:xfrm>
          <a:prstGeom prst="rect">
            <a:avLst/>
          </a:prstGeom>
          <a:solidFill>
            <a:srgbClr val="1E3A5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VIF là gì?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</a:rPr>
              <a:t>Variance Inflation Factor đo mức độ một feature bị giải thích bởi các feature khác. VIF &lt; 5 là chấp nhận được; VIF &lt; 2 là rất tốt.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51560"/>
          <a:ext cx="4206240" cy="371246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VIF 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Đánh giá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furnishingstatus_unfurnished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1.664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furnishingstatus_semi-furnished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1.586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stories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1.458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1.413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bedrooms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1.348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basement_yes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1.323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bathrooms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1.280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airconditioning_yes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1.239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parking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1.219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guestroom_yes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1.216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mainroad_yes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1.182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prefarea_yes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1.147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hotwaterheating_yes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1.053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✓ Tốt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2194560"/>
            <a:ext cx="3840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Kết luận: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63347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 Tất cả VIF đều &lt;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 Không phát hiện đa cộng tuyến nghiêm trọng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 Dữ liệu đủ điều kiện cho Multiple Linear Regression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→  Có thể tiếp tục bước Feature Selection (RFE)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7/10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Selection với RFE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AFCC"/>
                </a:solidFill>
              </a:rPr>
              <a:t>Recursive Feature Elimination — Loại dần feature kém quan trọng, giữ lại 10 feature tốt nhất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A562"/>
                </a:solidFill>
              </a:rPr>
              <a:t>✅  10 Features được chọn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" y="1627632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" y="16093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1508760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99232" y="1627632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9232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8416" y="16093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bathrooms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30552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" y="2249424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" y="223113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stories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2130552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99232" y="2249424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99232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8416" y="223113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parking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752344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" y="2871216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9536" y="2852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mainroad_yes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26080" y="2752344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99232" y="2871216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99232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28416" y="2852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basement_yes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374136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0352" y="3493008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9536" y="3474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hotwaterheating_yes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26080" y="3374136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99232" y="3493008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9923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28416" y="3474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airconditioning_yes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995928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0352" y="4114800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0352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" y="40965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prefarea_yes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926080" y="3995928"/>
            <a:ext cx="2331720" cy="502920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999232" y="4114800"/>
            <a:ext cx="274320" cy="274320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99232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28416" y="40965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furnishingstatus_unfurnished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303520" y="1115568"/>
            <a:ext cx="3474720" cy="384048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4068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080"/>
                </a:solidFill>
              </a:rPr>
              <a:t>❌  Features bị loại (Ranking &gt; 1)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40680" y="1627632"/>
            <a:ext cx="3200400" cy="548640"/>
          </a:xfrm>
          <a:prstGeom prst="rect">
            <a:avLst/>
          </a:prstGeom>
          <a:solidFill>
            <a:srgbClr val="1A2E4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577840" y="1709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guestroom_yes</a:t>
            </a:r>
          </a:p>
        </p:txBody>
      </p:sp>
      <p:sp>
        <p:nvSpPr>
          <p:cNvPr id="51" name="Text 49"/>
          <p:cNvSpPr/>
          <p:nvPr/>
        </p:nvSpPr>
        <p:spPr>
          <a:xfrm>
            <a:off x="7772400" y="17099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080"/>
                </a:solidFill>
              </a:rPr>
              <a:t>Rank 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40680" y="2313432"/>
            <a:ext cx="3200400" cy="548640"/>
          </a:xfrm>
          <a:prstGeom prst="rect">
            <a:avLst/>
          </a:prstGeom>
          <a:solidFill>
            <a:srgbClr val="1A2E4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577840" y="2395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bedrooms</a:t>
            </a:r>
          </a:p>
        </p:txBody>
      </p:sp>
      <p:sp>
        <p:nvSpPr>
          <p:cNvPr id="54" name="Text 52"/>
          <p:cNvSpPr/>
          <p:nvPr/>
        </p:nvSpPr>
        <p:spPr>
          <a:xfrm>
            <a:off x="7772400" y="23957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080"/>
                </a:solidFill>
              </a:rPr>
              <a:t>Rank 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40680" y="3015513"/>
            <a:ext cx="3200400" cy="548640"/>
          </a:xfrm>
          <a:prstGeom prst="rect">
            <a:avLst/>
          </a:prstGeom>
          <a:solidFill>
            <a:srgbClr val="1A2E4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5577840" y="3081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furnishingstatus_semi-furnished</a:t>
            </a:r>
          </a:p>
        </p:txBody>
      </p:sp>
      <p:sp>
        <p:nvSpPr>
          <p:cNvPr id="57" name="Text 55"/>
          <p:cNvSpPr/>
          <p:nvPr/>
        </p:nvSpPr>
        <p:spPr>
          <a:xfrm>
            <a:off x="7772400" y="3081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080"/>
                </a:solidFill>
              </a:rPr>
              <a:t>Rank 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509260" y="36989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→  Mô hình được train chỉ trên 10 features được chọn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889139" y="4784681"/>
            <a:ext cx="4187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0B2"/>
                </a:solidFill>
              </a:rPr>
              <a:t>Sử dụng RFE với LinearRegression(n_features_to_select=10) trên tập train sau khi đã scale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— Multiple Linear Regression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8/10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777240"/>
          </a:xfrm>
          <a:prstGeom prst="rect">
            <a:avLst/>
          </a:prstGeom>
          <a:solidFill>
            <a:srgbClr val="1A2E4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 =  β₀  +  β₁·area  +  β₂·bathrooms  +  β₃·stories  +  ···  +  β₁₀·furnishingstatus_unfurnished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Hệ số hồi quy (Coefficients)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9541"/>
              </p:ext>
            </p:extLst>
          </p:nvPr>
        </p:nvGraphicFramePr>
        <p:xfrm>
          <a:off x="365760" y="2240280"/>
          <a:ext cx="4663440" cy="27432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</a:rPr>
                        <a:t>Intercept (β₀)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7A4A"/>
                          </a:solidFill>
                        </a:rPr>
                        <a:t>4,716,709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+476,497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bathrooms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+479,722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stories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+450,347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airconditioning_yes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+387,082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prefarea_yes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+283,466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parking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+234,234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basement_yes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+211,063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hotwaterheating_yes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+200,261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mainroad_yes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7A4A"/>
                          </a:solidFill>
                        </a:rPr>
                        <a:t>+175,976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furnishingstatus_unfurnished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</a:rPr>
                        <a:t>-181,683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212080" y="1920240"/>
            <a:ext cx="35661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492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💡 Diễn giải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23317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Mỗi hệ số β thể hiện mức thay đổi kỳ vọng của price (VND) khi feature tương ứng tăng 1 đơn vị (sau chuẩn hóa), giữ các feature khác không đổi.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49240" y="28529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• Hệ số dương (+) → Feature tăng làm price tăng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49240" y="33741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• Hệ số âm (−) → Feature tăng làm price giảm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349240" y="38953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• area, bathrooms, stories và airconditioning có tác động lớn nhất.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49240" y="44165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• furnishingstatus_unfurnished có hệ số âm — nhà chưa trang trí nội thất có giá thấp hơn.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9/10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Đánh Giá Mô Hình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011680" cy="141732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011680" cy="2560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R²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A562"/>
                </a:solidFill>
              </a:rPr>
              <a:t>0.6635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0B2"/>
                </a:solidFill>
              </a:rPr>
              <a:t>Variance explained (train)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96112"/>
            <a:ext cx="2011680" cy="141732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896112"/>
            <a:ext cx="2011680" cy="2560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R²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12070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A562"/>
                </a:solidFill>
              </a:rPr>
              <a:t>0.7212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0B2"/>
                </a:solidFill>
              </a:rPr>
              <a:t>Variance explained (test)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96112"/>
            <a:ext cx="2011680" cy="141732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896112"/>
            <a:ext cx="20116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RMSE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2070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C4D8"/>
                </a:solidFill>
              </a:rPr>
              <a:t>1,071,210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8FA0B2"/>
                </a:solidFill>
              </a:rPr>
              <a:t>Error (</a:t>
            </a:r>
            <a:r>
              <a:rPr lang="en-US" sz="900" i="1" dirty="0">
                <a:solidFill>
                  <a:srgbClr val="8FA0B2"/>
                </a:solidFill>
              </a:rPr>
              <a:t>train)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96112"/>
            <a:ext cx="2011680" cy="141732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03720" y="896112"/>
            <a:ext cx="20116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RMSE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2070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C4D8"/>
                </a:solidFill>
              </a:rPr>
              <a:t>982,410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037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8FA0B2"/>
                </a:solidFill>
              </a:rPr>
              <a:t>Error (</a:t>
            </a:r>
            <a:r>
              <a:rPr lang="en-US" sz="900" i="1" dirty="0">
                <a:solidFill>
                  <a:srgbClr val="8FA0B2"/>
                </a:solidFill>
              </a:rPr>
              <a:t>test)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Chi tiết các metrics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1737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Training Set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Set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0.6635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A4A"/>
                          </a:solidFill>
                        </a:rPr>
                        <a:t>0.7212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RSS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4.89 × 10¹⁴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1.03 × 10¹⁴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MSE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1.147 × 10¹²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9.651 × 10¹¹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1,071,210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A562"/>
                          </a:solidFill>
                        </a:rPr>
                        <a:t>982,410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562"/>
                </a:solidFill>
              </a:rPr>
              <a:t>✅  Test R² &gt; Train R²  →  Không có dấu hiệu overfitting rõ ràng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FA0B2"/>
                </a:solidFill>
              </a:rPr>
              <a:t>Phân tích sai số dự đoán của mô hình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0" y="22860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10/10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05840"/>
            <a:ext cx="841248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343400"/>
            <a:ext cx="2788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4343400"/>
            <a:ext cx="64008" cy="6400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4389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Error Distribution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4626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Phân phối sai số tập trung quanh 0 — đúng giả định Linear Regression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91840" y="4343400"/>
            <a:ext cx="2788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91840" y="4343400"/>
            <a:ext cx="6400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0" y="4389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Actual vs Predicted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74720" y="4626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Điểm dự đoán bám theo đường thực tế, đặc biệt ở vùng giá trung bình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4343400"/>
            <a:ext cx="2788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0" y="4343400"/>
            <a:ext cx="64008" cy="6400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4389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Outliers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0" y="4626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Sai số lớn tập trung ở nhà giá cao — mô hình tuyến tính còn hạn chế ở đuôi phân phối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Kết Luận &amp; Hướng Phát Triển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4297680" cy="397764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A562"/>
                </a:solidFill>
              </a:rPr>
              <a:t>📊 Kết quả chính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4023360" cy="566928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6032" cy="256032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Test R² = 0.7212 → Mô hình giải thích được ~72% variance giá nhà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4023360" cy="566928"/>
          </a:xfrm>
          <a:prstGeom prst="rect">
            <a:avLst/>
          </a:prstGeom>
          <a:solidFill>
            <a:srgbClr val="152B45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39696"/>
            <a:ext cx="256032" cy="256032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RMSE </a:t>
            </a:r>
            <a:r>
              <a:rPr lang="en-US" sz="950">
                <a:solidFill>
                  <a:srgbClr val="FFFFFF"/>
                </a:solidFill>
              </a:rPr>
              <a:t>= 982,410 </a:t>
            </a:r>
            <a:r>
              <a:rPr lang="en-US" sz="950" dirty="0">
                <a:solidFill>
                  <a:srgbClr val="FFFFFF"/>
                </a:solidFill>
              </a:rPr>
              <a:t>— sai số ở mức baseline chấp nhận được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706624"/>
            <a:ext cx="4023360" cy="566928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2798064"/>
            <a:ext cx="256032" cy="256032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277977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area, bathrooms, airconditioning là 3 feature tác động mạnh nhất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4023360" cy="566928"/>
          </a:xfrm>
          <a:prstGeom prst="rect">
            <a:avLst/>
          </a:prstGeom>
          <a:solidFill>
            <a:srgbClr val="152B45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" y="3456432"/>
            <a:ext cx="256032" cy="256032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43814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RFE loại 3 feature ít tín hiệu, cải thiện chất lượng mô hình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023360"/>
            <a:ext cx="4023360" cy="566928"/>
          </a:xfrm>
          <a:prstGeom prst="rect">
            <a:avLst/>
          </a:prstGeom>
          <a:solidFill>
            <a:srgbClr val="1C3D6A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256032" cy="256032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400" y="40965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Test R² &gt; Train R² → Không có overfitting rõ ràng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896112"/>
            <a:ext cx="3840480" cy="1828800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080"/>
                </a:solidFill>
              </a:rPr>
              <a:t>⚠️ Hạn chế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13258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• Dataset nhỏ — 545 records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• Giả định quan hệ tuyến tính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• Chưa bắt được quan hệ phi tuyến</a:t>
            </a:r>
          </a:p>
        </p:txBody>
      </p:sp>
      <p:sp>
        <p:nvSpPr>
          <p:cNvPr id="28" name="Shape 26"/>
          <p:cNvSpPr/>
          <p:nvPr/>
        </p:nvSpPr>
        <p:spPr>
          <a:xfrm>
            <a:off x="4937760" y="2852928"/>
            <a:ext cx="3840480" cy="2020824"/>
          </a:xfrm>
          <a:prstGeom prst="rect">
            <a:avLst/>
          </a:prstGeom>
          <a:solidFill>
            <a:srgbClr val="192B40"/>
          </a:solidFill>
          <a:ln w="6350">
            <a:solidFill>
              <a:srgbClr val="D5DE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A562"/>
                </a:solidFill>
              </a:rPr>
              <a:t>🚀 Future 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273552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→ Cross-validation cho đánh giá bền vững hơn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→ Feature engineering nâng cao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→ So sánh: Random Forest, Gradient Boosting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→ Hyperparameter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1147</Words>
  <Application>Microsoft Office PowerPoint</Application>
  <PresentationFormat>On-screen Show (16:9)</PresentationFormat>
  <Paragraphs>280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Price Prediction Using Multiple Linear Regression</dc:title>
  <dc:subject>PptxGenJS Presentation</dc:subject>
  <dc:creator>Nguyễn Minh Hiếu, Vũ Nam Hải</dc:creator>
  <cp:lastModifiedBy>Nguyễn Minh Hiếu</cp:lastModifiedBy>
  <cp:revision>2</cp:revision>
  <dcterms:created xsi:type="dcterms:W3CDTF">2026-06-06T09:51:51Z</dcterms:created>
  <dcterms:modified xsi:type="dcterms:W3CDTF">2026-06-08T01:36:39Z</dcterms:modified>
</cp:coreProperties>
</file>